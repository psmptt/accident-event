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embeddedFontLst>
    <p:embeddedFont>
      <p:font typeface="Browallia New" panose="020B0604020202020204" pitchFamily="34" charset="-34"/>
      <p:regular r:id="rId10"/>
      <p:bold r:id="rId11"/>
      <p:italic r:id="rId12"/>
      <p:boldItalic r:id="rId13"/>
    </p:embeddedFont>
    <p:embeddedFont>
      <p:font typeface="Cordia New" panose="020B0304020202020204" pitchFamily="34" charset="-34"/>
      <p:regular r:id="rId14"/>
      <p:bold r:id="rId15"/>
      <p:italic r:id="rId16"/>
      <p:boldItalic r:id="rId17"/>
    </p:embeddedFont>
    <p:embeddedFont>
      <p:font typeface="Sarabun" panose="020B0604020202020204" charset="-34"/>
      <p:regular r:id="rId18"/>
      <p:bold r:id="rId19"/>
      <p:italic r:id="rId20"/>
      <p:boldItalic r:id="rId21"/>
    </p:embeddedFont>
    <p:embeddedFont>
      <p:font typeface="Tahoma" panose="020B0604030504040204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uSryWBroJzOe/fLcpTnHEU3aD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E3D3D8-82A8-43BE-B254-8749F0F55D5F}">
  <a:tblStyle styleId="{58E3D3D8-82A8-43BE-B254-8749F0F55D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TT 45 Pride" pitchFamily="50" charset="-34"/>
                <a:ea typeface="+mn-ea"/>
                <a:cs typeface="PTT 45 Pride" pitchFamily="50" charset="-34"/>
              </a:defRPr>
            </a:pPr>
            <a:r>
              <a:rPr lang="en-US" sz="2400" b="1" dirty="0"/>
              <a:t>Major Accident case 2026</a:t>
            </a:r>
            <a:endParaRPr lang="th-TH" sz="2400" b="1" dirty="0"/>
          </a:p>
        </c:rich>
      </c:tx>
      <c:overlay val="0"/>
      <c:spPr>
        <a:solidFill>
          <a:srgbClr val="FFF5B7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TT 45 Pride" pitchFamily="50" charset="-34"/>
              <a:ea typeface="+mn-ea"/>
              <a:cs typeface="PTT 45 Pride" pitchFamily="50" charset="-34"/>
            </a:defRPr>
          </a:pPr>
          <a:endParaRPr lang="th-TH"/>
        </a:p>
      </c:txPr>
    </c:title>
    <c:autoTitleDeleted val="0"/>
    <c:plotArea>
      <c:layout>
        <c:manualLayout>
          <c:layoutTarget val="inner"/>
          <c:xMode val="edge"/>
          <c:yMode val="edge"/>
          <c:x val="9.6188983906392314E-2"/>
          <c:y val="0.17688748071130445"/>
          <c:w val="0.84814649921322394"/>
          <c:h val="0.74464845462672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</c:v>
                </c:pt>
              </c:strCache>
            </c:strRef>
          </c:tx>
          <c:spPr>
            <a:solidFill>
              <a:srgbClr val="1126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TT 45 Pride" pitchFamily="50" charset="-34"/>
                    <a:ea typeface="+mn-ea"/>
                    <a:cs typeface="PTT 45 Pride" pitchFamily="50" charset="-34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4</c:v>
                </c:pt>
                <c:pt idx="2">
                  <c:v>1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1-4EB2-A735-27602A61DD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Fatality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2.8692391692716683E-3"/>
                  <c:y val="4.519675892974074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A1-4EB2-A735-27602A61DD13}"/>
                </c:ext>
              </c:extLst>
            </c:dLbl>
            <c:dLbl>
              <c:idx val="7"/>
              <c:layout>
                <c:manualLayout>
                  <c:x val="-4.3038587539075031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A1-4EB2-A735-27602A61DD13}"/>
                </c:ext>
              </c:extLst>
            </c:dLbl>
            <c:dLbl>
              <c:idx val="9"/>
              <c:layout>
                <c:manualLayout>
                  <c:x val="-2.8692391692717737E-3"/>
                  <c:y val="4.519675892974074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A1-4EB2-A735-27602A61DD1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1DB-4DEF-9C52-DDECDFBB5B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TT 45 Pride" pitchFamily="50" charset="-34"/>
                    <a:ea typeface="+mn-ea"/>
                    <a:cs typeface="PTT 45 Pride" pitchFamily="50" charset="-34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</c:v>
                </c:pt>
                <c:pt idx="1">
                  <c:v>2</c:v>
                </c:pt>
                <c:pt idx="2">
                  <c:v>0</c:v>
                </c:pt>
                <c:pt idx="3">
                  <c:v>9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A1-4EB2-A735-27602A61DD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Injury</c:v>
                </c:pt>
              </c:strCache>
            </c:strRef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9.4072033358005534E-3"/>
                  <c:y val="4.51967589297390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DB-4DEF-9C52-DDECDFBB5B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TT 45 Pride" pitchFamily="50" charset="-34"/>
                    <a:ea typeface="+mn-ea"/>
                    <a:cs typeface="PTT 45 Pride" pitchFamily="50" charset="-34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102</c:v>
                </c:pt>
                <c:pt idx="1">
                  <c:v>55</c:v>
                </c:pt>
                <c:pt idx="2">
                  <c:v>3</c:v>
                </c:pt>
                <c:pt idx="3">
                  <c:v>124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CA1-4EB2-A735-27602A61D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9"/>
        <c:axId val="485404528"/>
        <c:axId val="485405184"/>
      </c:barChart>
      <c:catAx>
        <c:axId val="485404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TT 45 Pride" pitchFamily="50" charset="-34"/>
                <a:ea typeface="+mn-ea"/>
                <a:cs typeface="PTT 45 Pride" pitchFamily="50" charset="-34"/>
              </a:defRPr>
            </a:pPr>
            <a:endParaRPr lang="th-TH"/>
          </a:p>
        </c:txPr>
        <c:crossAx val="485405184"/>
        <c:crosses val="autoZero"/>
        <c:auto val="1"/>
        <c:lblAlgn val="ctr"/>
        <c:lblOffset val="100"/>
        <c:noMultiLvlLbl val="0"/>
      </c:catAx>
      <c:valAx>
        <c:axId val="485405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TT 45 Pride" pitchFamily="50" charset="-34"/>
                <a:ea typeface="+mn-ea"/>
                <a:cs typeface="PTT 45 Pride" pitchFamily="50" charset="-34"/>
              </a:defRPr>
            </a:pPr>
            <a:endParaRPr lang="th-TH"/>
          </a:p>
        </c:txPr>
        <c:crossAx val="485404528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3059430985888667"/>
          <c:y val="0.12522669555463187"/>
          <c:w val="0.42284564197284608"/>
          <c:h val="5.63980638973139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TT 45 Pride" pitchFamily="50" charset="-34"/>
              <a:ea typeface="+mn-ea"/>
              <a:cs typeface="PTT 45 Pride" pitchFamily="50" charset="-34"/>
            </a:defRPr>
          </a:pPr>
          <a:endParaRPr lang="th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PTT 45 Pride" pitchFamily="50" charset="-34"/>
          <a:cs typeface="PTT 45 Pride" pitchFamily="50" charset="-34"/>
        </a:defRPr>
      </a:pPr>
      <a:endParaRPr lang="th-T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ฝ่ายพัฒนาการปฏิบัติการสู่ความเป็นเลิศ (พปล.)</a:t>
            </a:r>
            <a:endParaRPr/>
          </a:p>
        </p:txBody>
      </p:sp>
      <p:sp>
        <p:nvSpPr>
          <p:cNvPr id="314" name="Google Shape;31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332508" y="2881653"/>
            <a:ext cx="1051560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332508" y="3686123"/>
            <a:ext cx="384478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 Page">
  <p:cSld name="5_Content Pag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1"/>
          <p:cNvSpPr txBox="1">
            <a:spLocks noGrp="1"/>
          </p:cNvSpPr>
          <p:nvPr>
            <p:ph type="body" idx="1"/>
          </p:nvPr>
        </p:nvSpPr>
        <p:spPr>
          <a:xfrm>
            <a:off x="497681" y="1042744"/>
            <a:ext cx="11196637" cy="541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332508" y="2881653"/>
            <a:ext cx="1051560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332508" y="3686123"/>
            <a:ext cx="384478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Page">
  <p:cSld name="6_Content Pag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497681" y="1042744"/>
            <a:ext cx="11196637" cy="541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vider Page">
  <p:cSld name="2_Divider Pag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4"/>
          <p:cNvSpPr txBox="1">
            <a:spLocks noGrp="1"/>
          </p:cNvSpPr>
          <p:nvPr>
            <p:ph type="title"/>
          </p:nvPr>
        </p:nvSpPr>
        <p:spPr>
          <a:xfrm>
            <a:off x="332508" y="2881653"/>
            <a:ext cx="1051560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332508" y="3568892"/>
            <a:ext cx="384478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Divider Page">
  <p:cSld name="7_Divider Pag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>
            <a:spLocks noGrp="1"/>
          </p:cNvSpPr>
          <p:nvPr>
            <p:ph type="title"/>
          </p:nvPr>
        </p:nvSpPr>
        <p:spPr>
          <a:xfrm>
            <a:off x="332508" y="2881653"/>
            <a:ext cx="1051560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body" idx="1"/>
          </p:nvPr>
        </p:nvSpPr>
        <p:spPr>
          <a:xfrm>
            <a:off x="332508" y="3568892"/>
            <a:ext cx="3844780" cy="580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ontent Page">
  <p:cSld name="13_Content Pag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6" descr="A white background with black and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>
            <a:spLocks noGrp="1"/>
          </p:cNvSpPr>
          <p:nvPr>
            <p:ph type="body" idx="1"/>
          </p:nvPr>
        </p:nvSpPr>
        <p:spPr>
          <a:xfrm>
            <a:off x="497681" y="1042744"/>
            <a:ext cx="11196637" cy="541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ontent Page">
  <p:cSld name="14_Content P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7" descr="A white background with blue borde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97681" y="1042744"/>
            <a:ext cx="11196637" cy="541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ontent Page">
  <p:cSld name="12_Content Pag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8" descr="A white background with black and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8"/>
          <p:cNvSpPr txBox="1">
            <a:spLocks noGrp="1"/>
          </p:cNvSpPr>
          <p:nvPr>
            <p:ph type="body" idx="1"/>
          </p:nvPr>
        </p:nvSpPr>
        <p:spPr>
          <a:xfrm>
            <a:off x="497681" y="1042744"/>
            <a:ext cx="11196637" cy="541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ntent Page">
  <p:cSld name="11_Content Pag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9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9"/>
          <p:cNvSpPr txBox="1">
            <a:spLocks noGrp="1"/>
          </p:cNvSpPr>
          <p:nvPr>
            <p:ph type="body" idx="1"/>
          </p:nvPr>
        </p:nvSpPr>
        <p:spPr>
          <a:xfrm>
            <a:off x="497681" y="1042744"/>
            <a:ext cx="11196637" cy="541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hyperlink" Target="https://www.bangkokbiznews.com/news/news-update/1217517" TargetMode="External"/><Relationship Id="rId10" Type="http://schemas.openxmlformats.org/officeDocument/2006/relationships/hyperlink" Target="https://www.hazardexonthenet.net/article/220275/Explosion-causes-fire-to-break-out-at-T%C3%BCrkiye-s-largest-oil-refinery.aspx" TargetMode="External"/><Relationship Id="rId4" Type="http://schemas.openxmlformats.org/officeDocument/2006/relationships/hyperlink" Target="https://www.hazardexonthenet.net/article/213380/Fire-at-one-of-the-world-s-largest-battery-storage-facilities-forces-evacuations.aspx" TargetMode="External"/><Relationship Id="rId9" Type="http://schemas.openxmlformats.org/officeDocument/2006/relationships/hyperlink" Target="https://www.bbc.com/news/articles/c89q5q8leeq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jpg"/><Relationship Id="rId7" Type="http://schemas.openxmlformats.org/officeDocument/2006/relationships/hyperlink" Target="https://iol.co.za/news/south-africa/2026-02-19-in-pictures-germiston-chemical-factory-explosion-forces-mass-evacuation-one-injure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industantimes.com/india-news/35-injured-10-critical-as-explosion-triggers-fire-in-faridabad-chemical-factory-101771251170918.html" TargetMode="External"/><Relationship Id="rId11" Type="http://schemas.openxmlformats.org/officeDocument/2006/relationships/image" Target="../media/image21.png"/><Relationship Id="rId5" Type="http://schemas.openxmlformats.org/officeDocument/2006/relationships/hyperlink" Target="https://www.hazardexonthenet.net/article/220422/Fire-at-oil-refinery-kills-one--injures-13-in-Iraq.aspx" TargetMode="External"/><Relationship Id="rId10" Type="http://schemas.openxmlformats.org/officeDocument/2006/relationships/image" Target="../media/image20.png"/><Relationship Id="rId4" Type="http://schemas.openxmlformats.org/officeDocument/2006/relationships/hyperlink" Target="https://www.weirtondailytimes.com/news/local-news/2026/01/blast-at-smith-township-plant-injures-5/" TargetMode="External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iscoveryalert.com.au/kazzinc-explosion-kazakhstan-zinc-smelter-safety-2026/" TargetMode="External"/><Relationship Id="rId3" Type="http://schemas.openxmlformats.org/officeDocument/2006/relationships/image" Target="../media/image11.jpg"/><Relationship Id="rId7" Type="http://schemas.openxmlformats.org/officeDocument/2006/relationships/hyperlink" Target="https://www.joiff.com/russia-deadly-blast-at-tatarstan-petrochemical-plant-triggers-investig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emicals.economictimes.indiatimes.com/news/industry-and-market/major-explosion-at-bharuch-chemical-plant-leaves-15-workers-injured-prompts-safety-review/130485713?utm_source=latest_news&amp;utm_medium=searchListing" TargetMode="External"/><Relationship Id="rId11" Type="http://schemas.openxmlformats.org/officeDocument/2006/relationships/image" Target="../media/image25.png"/><Relationship Id="rId5" Type="http://schemas.openxmlformats.org/officeDocument/2006/relationships/image" Target="../media/image22.jpg"/><Relationship Id="rId10" Type="http://schemas.openxmlformats.org/officeDocument/2006/relationships/image" Target="../media/image24.png"/><Relationship Id="rId4" Type="http://schemas.openxmlformats.org/officeDocument/2006/relationships/hyperlink" Target="https://vietnamnews.vn/society/1766183/refining-tank-explosion-at-lao-cai-s-yellow-phosphorus-plant-leaves-one-dead.html" TargetMode="External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/>
          <p:nvPr/>
        </p:nvSpPr>
        <p:spPr>
          <a:xfrm>
            <a:off x="314583" y="204405"/>
            <a:ext cx="10436276" cy="576064"/>
          </a:xfrm>
          <a:prstGeom prst="rect">
            <a:avLst/>
          </a:prstGeom>
          <a:gradFill>
            <a:gsLst>
              <a:gs pos="0">
                <a:srgbClr val="F5F7FC"/>
              </a:gs>
              <a:gs pos="41000">
                <a:srgbClr val="00B0F0"/>
              </a:gs>
              <a:gs pos="55000">
                <a:srgbClr val="247FF1"/>
              </a:gs>
              <a:gs pos="74000">
                <a:srgbClr val="0E72E0"/>
              </a:gs>
              <a:gs pos="100000">
                <a:srgbClr val="1126BF"/>
              </a:gs>
            </a:gsLst>
            <a:lin ang="10800000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dia New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ordia New"/>
                <a:ea typeface="Cordia New"/>
                <a:cs typeface="Cordia New"/>
                <a:sym typeface="Cordia New"/>
              </a:rPr>
              <a:t>Global Major Accident Events 2026 (Jan-Feb)</a:t>
            </a:r>
            <a:endParaRPr/>
          </a:p>
        </p:txBody>
      </p:sp>
      <p:sp>
        <p:nvSpPr>
          <p:cNvPr id="124" name="Google Shape;124;p1"/>
          <p:cNvSpPr/>
          <p:nvPr/>
        </p:nvSpPr>
        <p:spPr>
          <a:xfrm>
            <a:off x="179512" y="116632"/>
            <a:ext cx="11876364" cy="792088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5432" y="204405"/>
            <a:ext cx="1147056" cy="53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" descr="ผลการค้นหารูปภาพสำหรับ Global map"/>
          <p:cNvPicPr preferRelativeResize="0"/>
          <p:nvPr/>
        </p:nvPicPr>
        <p:blipFill rotWithShape="1">
          <a:blip r:embed="rId4">
            <a:alphaModFix/>
          </a:blip>
          <a:srcRect l="5456" t="33390" r="5456" b="41485"/>
          <a:stretch/>
        </p:blipFill>
        <p:spPr>
          <a:xfrm>
            <a:off x="425780" y="1412877"/>
            <a:ext cx="6912853" cy="36297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1"/>
          <p:cNvGraphicFramePr/>
          <p:nvPr>
            <p:extLst>
              <p:ext uri="{D42A27DB-BD31-4B8C-83A1-F6EECF244321}">
                <p14:modId xmlns:p14="http://schemas.microsoft.com/office/powerpoint/2010/main" val="4268185348"/>
              </p:ext>
            </p:extLst>
          </p:nvPr>
        </p:nvGraphicFramePr>
        <p:xfrm>
          <a:off x="8195127" y="1287139"/>
          <a:ext cx="3425650" cy="4998870"/>
        </p:xfrm>
        <a:graphic>
          <a:graphicData uri="http://schemas.openxmlformats.org/drawingml/2006/table">
            <a:tbl>
              <a:tblPr firstRow="1" bandRow="1">
                <a:noFill/>
                <a:tableStyleId>{58E3D3D8-82A8-43BE-B254-8749F0F55D5F}</a:tableStyleId>
              </a:tblPr>
              <a:tblGrid>
                <a:gridCol w="81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0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Month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No.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075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Accident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(case)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1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Fatality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(person)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Injury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(person)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Jan</a:t>
                      </a:r>
                      <a:endParaRPr sz="1400" b="1" u="none" strike="noStrike" cap="none"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5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9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102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Feb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4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2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55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Mar</a:t>
                      </a:r>
                      <a:endParaRPr sz="1400" b="1" u="none" strike="noStrike" cap="none" dirty="0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1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0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3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Apr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8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9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124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May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1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2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5</a:t>
                      </a:r>
                      <a:endParaRPr sz="1400" b="1" u="none" strike="noStrike" cap="none" dirty="0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Jun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Jul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Aug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Sep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Oct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Nov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Dec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Total</a:t>
                      </a:r>
                      <a:endParaRPr sz="1400" b="1" u="none" strike="noStrike" cap="none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0000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20</a:t>
                      </a:r>
                      <a:endParaRPr sz="1400" b="1" u="none" strike="noStrike" cap="none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0000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23</a:t>
                      </a:r>
                      <a:endParaRPr sz="1400" b="1" u="none" strike="noStrike" cap="none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291</a:t>
                      </a:r>
                      <a:endParaRPr sz="1400" b="1" u="none" strike="noStrike" cap="none" dirty="0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28" name="Google Shape;128;p1"/>
          <p:cNvGrpSpPr/>
          <p:nvPr/>
        </p:nvGrpSpPr>
        <p:grpSpPr>
          <a:xfrm>
            <a:off x="549213" y="5042624"/>
            <a:ext cx="6912853" cy="1021527"/>
            <a:chOff x="251520" y="5042622"/>
            <a:chExt cx="5608950" cy="1008000"/>
          </a:xfrm>
        </p:grpSpPr>
        <p:sp>
          <p:nvSpPr>
            <p:cNvPr id="129" name="Google Shape;129;p1"/>
            <p:cNvSpPr/>
            <p:nvPr/>
          </p:nvSpPr>
          <p:spPr>
            <a:xfrm>
              <a:off x="251520" y="5042622"/>
              <a:ext cx="5608950" cy="10080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"/>
            <p:cNvSpPr txBox="1"/>
            <p:nvPr/>
          </p:nvSpPr>
          <p:spPr>
            <a:xfrm>
              <a:off x="345744" y="5184634"/>
              <a:ext cx="5406899" cy="86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ปี 2026 (1 ม.ค. – 23 ก.พ.) ทั่วโลกมีอุบัติเหตุร้ายแรงเกิดขึ้น</a:t>
              </a:r>
              <a:endParaRPr/>
            </a:p>
            <a:p>
              <a:pPr marL="0" marR="0" lvl="0" indent="0" algn="ctr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จำนวน </a:t>
              </a:r>
              <a:r>
                <a:rPr lang="en-US" sz="2400" b="1" i="0" u="none" strike="noStrike" cap="none">
                  <a:solidFill>
                    <a:srgbClr val="0000FF"/>
                  </a:solidFill>
                  <a:latin typeface="Sarabun"/>
                  <a:ea typeface="Sarabun"/>
                  <a:cs typeface="Sarabun"/>
                  <a:sym typeface="Sarabun"/>
                </a:rPr>
                <a:t>9</a:t>
              </a:r>
              <a:r>
                <a:rPr lang="en-US" sz="2400" b="1" i="0" u="none" strike="noStrike" cap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 ครั้ง (as published)</a:t>
              </a:r>
              <a:endParaRPr sz="2400" b="1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pic>
        <p:nvPicPr>
          <p:cNvPr id="131" name="Google Shape;131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13424" y="3229617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"/>
          <p:cNvSpPr txBox="1"/>
          <p:nvPr/>
        </p:nvSpPr>
        <p:spPr>
          <a:xfrm>
            <a:off x="5056927" y="2186718"/>
            <a:ext cx="831104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33" name="Google Shape;133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3126" y="2492314"/>
            <a:ext cx="130169" cy="208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3544323" y="2488710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Greece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35" name="Google Shape;135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8322" y="2700584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 txBox="1"/>
          <p:nvPr/>
        </p:nvSpPr>
        <p:spPr>
          <a:xfrm>
            <a:off x="4212649" y="2505477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Turkey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37" name="Google Shape;137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3152" y="2772751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"/>
          <p:cNvSpPr txBox="1"/>
          <p:nvPr/>
        </p:nvSpPr>
        <p:spPr>
          <a:xfrm>
            <a:off x="2355590" y="2155422"/>
            <a:ext cx="75946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39" name="Google Shape;139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34709" y="2461864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 txBox="1"/>
          <p:nvPr/>
        </p:nvSpPr>
        <p:spPr>
          <a:xfrm>
            <a:off x="4200083" y="2738289"/>
            <a:ext cx="831104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Iraq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41" name="Google Shape;141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282" y="3043885"/>
            <a:ext cx="130169" cy="208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"/>
          <p:cNvSpPr txBox="1"/>
          <p:nvPr/>
        </p:nvSpPr>
        <p:spPr>
          <a:xfrm>
            <a:off x="4713253" y="2645356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43" name="Google Shape;143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2644" y="3060652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"/>
          <p:cNvSpPr txBox="1"/>
          <p:nvPr/>
        </p:nvSpPr>
        <p:spPr>
          <a:xfrm>
            <a:off x="3932599" y="3786574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South Africa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45" name="Google Shape;145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6963" y="4075335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0025" y="3194550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/>
        </p:nvSpPr>
        <p:spPr>
          <a:xfrm>
            <a:off x="5289457" y="2827715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Thailand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5843569" y="3046526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Vietnam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/>
        </p:nvSpPr>
        <p:spPr>
          <a:xfrm>
            <a:off x="314583" y="204405"/>
            <a:ext cx="10436276" cy="576064"/>
          </a:xfrm>
          <a:prstGeom prst="rect">
            <a:avLst/>
          </a:prstGeom>
          <a:gradFill>
            <a:gsLst>
              <a:gs pos="0">
                <a:srgbClr val="F5F7FC"/>
              </a:gs>
              <a:gs pos="41000">
                <a:srgbClr val="00B0F0"/>
              </a:gs>
              <a:gs pos="55000">
                <a:srgbClr val="247FF1"/>
              </a:gs>
              <a:gs pos="74000">
                <a:srgbClr val="0E72E0"/>
              </a:gs>
              <a:gs pos="100000">
                <a:srgbClr val="1126BF"/>
              </a:gs>
            </a:gsLst>
            <a:lin ang="10800000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dia New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ordia New"/>
                <a:ea typeface="Cordia New"/>
                <a:cs typeface="Cordia New"/>
                <a:sym typeface="Cordia New"/>
              </a:rPr>
              <a:t>Global Major Accident Events 2025 (Jan - Dec)</a:t>
            </a:r>
            <a:endParaRPr/>
          </a:p>
        </p:txBody>
      </p:sp>
      <p:sp>
        <p:nvSpPr>
          <p:cNvPr id="154" name="Google Shape;154;p2"/>
          <p:cNvSpPr/>
          <p:nvPr/>
        </p:nvSpPr>
        <p:spPr>
          <a:xfrm>
            <a:off x="179512" y="116632"/>
            <a:ext cx="11876364" cy="792088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5432" y="204405"/>
            <a:ext cx="1147056" cy="53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" descr="ผลการค้นหารูปภาพสำหรับ Global map"/>
          <p:cNvPicPr preferRelativeResize="0"/>
          <p:nvPr/>
        </p:nvPicPr>
        <p:blipFill rotWithShape="1">
          <a:blip r:embed="rId4">
            <a:alphaModFix/>
          </a:blip>
          <a:srcRect l="5456" t="33390" r="5456" b="41485"/>
          <a:stretch/>
        </p:blipFill>
        <p:spPr>
          <a:xfrm>
            <a:off x="425780" y="1412877"/>
            <a:ext cx="6912853" cy="36297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2"/>
          <p:cNvGraphicFramePr/>
          <p:nvPr/>
        </p:nvGraphicFramePr>
        <p:xfrm>
          <a:off x="7801991" y="1251161"/>
          <a:ext cx="3425650" cy="4998870"/>
        </p:xfrm>
        <a:graphic>
          <a:graphicData uri="http://schemas.openxmlformats.org/drawingml/2006/table">
            <a:tbl>
              <a:tblPr firstRow="1" bandRow="1">
                <a:noFill/>
                <a:tableStyleId>{58E3D3D8-82A8-43BE-B254-8749F0F55D5F}</a:tableStyleId>
              </a:tblPr>
              <a:tblGrid>
                <a:gridCol w="81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0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Month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No.</a:t>
                      </a: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075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Accident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(case)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1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Fatality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(person)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Injury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C0C0C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(person)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Jan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Feb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Mar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Apr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May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Jun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Jul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Aug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Sep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Oct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Nov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Dec</a:t>
                      </a:r>
                      <a:endParaRPr sz="1400" b="1" u="none" strike="noStrike" cap="none"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C0C0C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Total</a:t>
                      </a:r>
                      <a:endParaRPr sz="1400" b="1" u="none" strike="noStrike" cap="none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0000FF"/>
                        </a:solidFill>
                        <a:latin typeface="Sarabun"/>
                        <a:ea typeface="Sarabun"/>
                        <a:cs typeface="Sarabun"/>
                        <a:sym typeface="Sarabu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58" name="Google Shape;158;p2"/>
          <p:cNvGrpSpPr/>
          <p:nvPr/>
        </p:nvGrpSpPr>
        <p:grpSpPr>
          <a:xfrm>
            <a:off x="549213" y="5042624"/>
            <a:ext cx="6912853" cy="1021527"/>
            <a:chOff x="251520" y="5042622"/>
            <a:chExt cx="5608950" cy="1008000"/>
          </a:xfrm>
        </p:grpSpPr>
        <p:sp>
          <p:nvSpPr>
            <p:cNvPr id="159" name="Google Shape;159;p2"/>
            <p:cNvSpPr/>
            <p:nvPr/>
          </p:nvSpPr>
          <p:spPr>
            <a:xfrm>
              <a:off x="251520" y="5042622"/>
              <a:ext cx="5608950" cy="10080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"/>
            <p:cNvSpPr txBox="1"/>
            <p:nvPr/>
          </p:nvSpPr>
          <p:spPr>
            <a:xfrm>
              <a:off x="345744" y="5184634"/>
              <a:ext cx="5406899" cy="861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ปี 2026 (1 ม.ค. – 22 ม.ค.) ทั่วโลกมีอุบัติเหตุร้ายแรงเกิดขึ้น</a:t>
              </a:r>
              <a:endParaRPr/>
            </a:p>
            <a:p>
              <a:pPr marL="0" marR="0" lvl="0" indent="0" algn="ctr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จำนวน </a:t>
              </a:r>
              <a:r>
                <a:rPr lang="en-US" sz="2400" b="1" i="0" u="none" strike="noStrike" cap="none">
                  <a:solidFill>
                    <a:srgbClr val="0000FF"/>
                  </a:solidFill>
                  <a:latin typeface="Sarabun"/>
                  <a:ea typeface="Sarabun"/>
                  <a:cs typeface="Sarabun"/>
                  <a:sym typeface="Sarabun"/>
                </a:rPr>
                <a:t>X</a:t>
              </a:r>
              <a:r>
                <a:rPr lang="en-US" sz="2400" b="1" i="0" u="none" strike="noStrike" cap="none">
                  <a:solidFill>
                    <a:srgbClr val="000000"/>
                  </a:solidFill>
                  <a:latin typeface="Sarabun"/>
                  <a:ea typeface="Sarabun"/>
                  <a:cs typeface="Sarabun"/>
                  <a:sym typeface="Sarabun"/>
                </a:rPr>
                <a:t> ครั้ง (as published)</a:t>
              </a:r>
              <a:endParaRPr sz="2400" b="1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sp>
        <p:nvSpPr>
          <p:cNvPr id="161" name="Google Shape;161;p2"/>
          <p:cNvSpPr txBox="1"/>
          <p:nvPr/>
        </p:nvSpPr>
        <p:spPr>
          <a:xfrm>
            <a:off x="2355590" y="2155422"/>
            <a:ext cx="75946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pic>
        <p:nvPicPr>
          <p:cNvPr id="162" name="Google Shape;162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34709" y="2461864"/>
            <a:ext cx="153120" cy="2449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2"/>
          <p:cNvGrpSpPr/>
          <p:nvPr/>
        </p:nvGrpSpPr>
        <p:grpSpPr>
          <a:xfrm>
            <a:off x="4915752" y="2646047"/>
            <a:ext cx="877732" cy="595855"/>
            <a:chOff x="4915752" y="2646047"/>
            <a:chExt cx="877732" cy="595855"/>
          </a:xfrm>
        </p:grpSpPr>
        <p:sp>
          <p:nvSpPr>
            <p:cNvPr id="164" name="Google Shape;164;p2"/>
            <p:cNvSpPr txBox="1"/>
            <p:nvPr/>
          </p:nvSpPr>
          <p:spPr>
            <a:xfrm>
              <a:off x="4915752" y="2646047"/>
              <a:ext cx="877732" cy="411257"/>
            </a:xfrm>
            <a:prstGeom prst="rect">
              <a:avLst/>
            </a:prstGeom>
            <a:solidFill>
              <a:srgbClr val="FFFFFF">
                <a:alpha val="69803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India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1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pic>
          <p:nvPicPr>
            <p:cNvPr id="165" name="Google Shape;165;p2" descr="ผลการค้นหารูปภาพสำหรับ pin icon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346323" y="2996910"/>
              <a:ext cx="153120" cy="2449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2"/>
          <p:cNvGrpSpPr/>
          <p:nvPr/>
        </p:nvGrpSpPr>
        <p:grpSpPr>
          <a:xfrm>
            <a:off x="5192164" y="3436978"/>
            <a:ext cx="877732" cy="595592"/>
            <a:chOff x="4913993" y="3149310"/>
            <a:chExt cx="877732" cy="595592"/>
          </a:xfrm>
        </p:grpSpPr>
        <p:pic>
          <p:nvPicPr>
            <p:cNvPr id="167" name="Google Shape;167;p2" descr="ผลการค้นหารูปภาพสำหรับ pin icon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98723" y="3149310"/>
              <a:ext cx="153120" cy="2449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"/>
            <p:cNvSpPr txBox="1"/>
            <p:nvPr/>
          </p:nvSpPr>
          <p:spPr>
            <a:xfrm>
              <a:off x="4913993" y="3333645"/>
              <a:ext cx="877732" cy="411257"/>
            </a:xfrm>
            <a:prstGeom prst="rect">
              <a:avLst/>
            </a:prstGeom>
            <a:solidFill>
              <a:srgbClr val="FFFFFF">
                <a:alpha val="69803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Malaysia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1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169" name="Google Shape;169;p2"/>
          <p:cNvSpPr txBox="1"/>
          <p:nvPr/>
        </p:nvSpPr>
        <p:spPr>
          <a:xfrm>
            <a:off x="3078653" y="2355993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Spain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id="170" name="Google Shape;170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9224" y="2706856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29" y="3220730"/>
            <a:ext cx="130169" cy="208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5812427" y="3022518"/>
            <a:ext cx="746170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Taiwan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3" name="Google Shape;173;p2"/>
          <p:cNvSpPr txBox="1"/>
          <p:nvPr/>
        </p:nvSpPr>
        <p:spPr>
          <a:xfrm>
            <a:off x="5694621" y="2404173"/>
            <a:ext cx="831104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sz="1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74" name="Google Shape;174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3240" y="2801316"/>
            <a:ext cx="130169" cy="208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"/>
          <p:cNvSpPr txBox="1"/>
          <p:nvPr/>
        </p:nvSpPr>
        <p:spPr>
          <a:xfrm>
            <a:off x="1473658" y="1804559"/>
            <a:ext cx="75946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Canada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id="176" name="Google Shape;176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52777" y="2111001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"/>
          <p:cNvSpPr txBox="1"/>
          <p:nvPr/>
        </p:nvSpPr>
        <p:spPr>
          <a:xfrm>
            <a:off x="2868160" y="1707202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Scotland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78" name="Google Shape;178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8731" y="2058065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"/>
          <p:cNvSpPr txBox="1"/>
          <p:nvPr/>
        </p:nvSpPr>
        <p:spPr>
          <a:xfrm>
            <a:off x="2354246" y="3359503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Brazil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80" name="Google Shape;180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4817" y="3710366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36974" y="2755036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1508" y="2985035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"/>
          <p:cNvSpPr txBox="1"/>
          <p:nvPr/>
        </p:nvSpPr>
        <p:spPr>
          <a:xfrm>
            <a:off x="3806403" y="2404173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Iran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4" name="Google Shape;184;p2"/>
          <p:cNvSpPr txBox="1"/>
          <p:nvPr/>
        </p:nvSpPr>
        <p:spPr>
          <a:xfrm>
            <a:off x="4060937" y="2634172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Bahrain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4712252" y="3189347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Thailand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id="186" name="Google Shape;186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13424" y="3229617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95792" y="3125482"/>
            <a:ext cx="130169" cy="208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"/>
          <p:cNvSpPr txBox="1"/>
          <p:nvPr/>
        </p:nvSpPr>
        <p:spPr>
          <a:xfrm>
            <a:off x="1034710" y="3057485"/>
            <a:ext cx="645627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Mexico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9" name="Google Shape;189;p2"/>
          <p:cNvSpPr txBox="1"/>
          <p:nvPr/>
        </p:nvSpPr>
        <p:spPr>
          <a:xfrm>
            <a:off x="5056927" y="2186718"/>
            <a:ext cx="831104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90" name="Google Shape;190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3126" y="2492314"/>
            <a:ext cx="130169" cy="20827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"/>
          <p:cNvSpPr txBox="1"/>
          <p:nvPr/>
        </p:nvSpPr>
        <p:spPr>
          <a:xfrm>
            <a:off x="1732528" y="3229617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Ecuador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92" name="Google Shape;192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3099" y="3580480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90369" y="2321756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2292" y="2651564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"/>
          <p:cNvSpPr txBox="1"/>
          <p:nvPr/>
        </p:nvSpPr>
        <p:spPr>
          <a:xfrm>
            <a:off x="3401721" y="2300701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6" name="Google Shape;196;p2"/>
          <p:cNvSpPr txBox="1"/>
          <p:nvPr/>
        </p:nvSpPr>
        <p:spPr>
          <a:xfrm>
            <a:off x="4397438" y="1704846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Russia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197" name="Google Shape;197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8009" y="2055709"/>
            <a:ext cx="153120" cy="24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4586" y="2340707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"/>
          <p:cNvSpPr txBox="1"/>
          <p:nvPr/>
        </p:nvSpPr>
        <p:spPr>
          <a:xfrm>
            <a:off x="3159798" y="1970893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Ireland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3464015" y="1989844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Czechia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201" name="Google Shape;201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85806" y="2744070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"/>
          <p:cNvSpPr txBox="1"/>
          <p:nvPr/>
        </p:nvSpPr>
        <p:spPr>
          <a:xfrm>
            <a:off x="4055235" y="2393207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Iraq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3" name="Google Shape;203;p2"/>
          <p:cNvSpPr txBox="1"/>
          <p:nvPr/>
        </p:nvSpPr>
        <p:spPr>
          <a:xfrm>
            <a:off x="1885648" y="4014895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204" name="Google Shape;204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6219" y="4365758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"/>
          <p:cNvSpPr txBox="1"/>
          <p:nvPr/>
        </p:nvSpPr>
        <p:spPr>
          <a:xfrm>
            <a:off x="2109151" y="3109663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Venezuela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206" name="Google Shape;206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39722" y="3460526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"/>
          <p:cNvSpPr txBox="1"/>
          <p:nvPr/>
        </p:nvSpPr>
        <p:spPr>
          <a:xfrm>
            <a:off x="2066399" y="3635405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Paraguay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208" name="Google Shape;208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6970" y="3986268"/>
            <a:ext cx="153120" cy="244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"/>
          <p:cNvSpPr txBox="1"/>
          <p:nvPr/>
        </p:nvSpPr>
        <p:spPr>
          <a:xfrm>
            <a:off x="4368219" y="2549419"/>
            <a:ext cx="877732" cy="41125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Pakistan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210" name="Google Shape;210;p2" descr="ผลการค้นหารูปภาพสำหรับ pi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8790" y="2900282"/>
            <a:ext cx="153120" cy="24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"/>
          <p:cNvSpPr txBox="1"/>
          <p:nvPr/>
        </p:nvSpPr>
        <p:spPr>
          <a:xfrm>
            <a:off x="314583" y="204405"/>
            <a:ext cx="10436276" cy="576064"/>
          </a:xfrm>
          <a:prstGeom prst="rect">
            <a:avLst/>
          </a:prstGeom>
          <a:gradFill>
            <a:gsLst>
              <a:gs pos="0">
                <a:srgbClr val="F5F7FC"/>
              </a:gs>
              <a:gs pos="41000">
                <a:srgbClr val="00B0F0"/>
              </a:gs>
              <a:gs pos="55000">
                <a:srgbClr val="247FF1"/>
              </a:gs>
              <a:gs pos="74000">
                <a:srgbClr val="0E72E0"/>
              </a:gs>
              <a:gs pos="100000">
                <a:srgbClr val="1126BF"/>
              </a:gs>
            </a:gsLst>
            <a:lin ang="10800000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dia New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ordia New"/>
                <a:ea typeface="Cordia New"/>
                <a:cs typeface="Cordia New"/>
                <a:sym typeface="Cordia New"/>
              </a:rPr>
              <a:t>Global Major Accident Events 2026 </a:t>
            </a:r>
            <a:endParaRPr sz="3200" b="1" i="0" u="none" strike="noStrike" cap="none">
              <a:solidFill>
                <a:srgbClr val="FFFFFF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179512" y="116632"/>
            <a:ext cx="11876364" cy="792088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5432" y="204405"/>
            <a:ext cx="1147056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"/>
          <p:cNvSpPr/>
          <p:nvPr/>
        </p:nvSpPr>
        <p:spPr>
          <a:xfrm>
            <a:off x="5752731" y="3853799"/>
            <a:ext cx="6439270" cy="2995665"/>
          </a:xfrm>
          <a:prstGeom prst="rect">
            <a:avLst/>
          </a:prstGeom>
          <a:solidFill>
            <a:srgbClr val="FAFA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-3754" y="3842449"/>
            <a:ext cx="5741959" cy="3015551"/>
          </a:xfrm>
          <a:prstGeom prst="rect">
            <a:avLst/>
          </a:prstGeom>
          <a:solidFill>
            <a:srgbClr val="F7F4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5752733" y="911906"/>
            <a:ext cx="6439268" cy="3011709"/>
          </a:xfrm>
          <a:prstGeom prst="rect">
            <a:avLst/>
          </a:prstGeom>
          <a:solidFill>
            <a:srgbClr val="F7F4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-1" y="913516"/>
            <a:ext cx="5752731" cy="2995665"/>
          </a:xfrm>
          <a:prstGeom prst="rect">
            <a:avLst/>
          </a:prstGeom>
          <a:solidFill>
            <a:srgbClr val="FAFA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3"/>
          <p:cNvCxnSpPr/>
          <p:nvPr/>
        </p:nvCxnSpPr>
        <p:spPr>
          <a:xfrm>
            <a:off x="5125" y="3881055"/>
            <a:ext cx="12168000" cy="40020"/>
          </a:xfrm>
          <a:prstGeom prst="straightConnector1">
            <a:avLst/>
          </a:prstGeom>
          <a:noFill/>
          <a:ln w="28575" cap="rnd" cmpd="sng">
            <a:solidFill>
              <a:srgbClr val="385623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223" name="Google Shape;223;p3"/>
          <p:cNvCxnSpPr/>
          <p:nvPr/>
        </p:nvCxnSpPr>
        <p:spPr>
          <a:xfrm>
            <a:off x="5752730" y="926476"/>
            <a:ext cx="0" cy="5940000"/>
          </a:xfrm>
          <a:prstGeom prst="straightConnector1">
            <a:avLst/>
          </a:prstGeom>
          <a:noFill/>
          <a:ln w="28575" cap="rnd" cmpd="sng">
            <a:solidFill>
              <a:srgbClr val="385623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224" name="Google Shape;224;p3"/>
          <p:cNvSpPr/>
          <p:nvPr/>
        </p:nvSpPr>
        <p:spPr>
          <a:xfrm>
            <a:off x="165433" y="1006604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1300" b="1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5887047" y="2345538"/>
            <a:ext cx="605342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เกิดเหตุเพลิงไหม้รุนแรงที่โรงงานเคมีภัณฑ์แห่งหนึ่ง ซึ่งผลิตยากันยุงและผลิตภัณฑ์เคมีอื่น ๆ โดยเพลิงไหม้เกิดขึ้นภายในคลังรีไซเคิลน้ำมันเก่า ซึ่งเป็นพื้นที่เก็บเชื้อเพลิงและสารเคมีหลายชนิด ทำให้ไฟลุกลามอย่างรวดเร็วและควันดำลอยสูงขึ้นสู่ท้องฟ้าเห็นได้จากระยะไกล </a:t>
            </a:r>
            <a:r>
              <a:rPr lang="en-US" sz="1600" b="0" i="0" u="none" strike="noStrike" cap="none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ผู้ได้รับบาดเจ็ด 1 ราย</a:t>
            </a:r>
            <a:endParaRPr/>
          </a:p>
        </p:txBody>
      </p:sp>
      <p:sp>
        <p:nvSpPr>
          <p:cNvPr id="226" name="Google Shape;226;p3"/>
          <p:cNvSpPr/>
          <p:nvPr/>
        </p:nvSpPr>
        <p:spPr>
          <a:xfrm>
            <a:off x="232391" y="3617215"/>
            <a:ext cx="5493839" cy="23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https://www.hazardexonthenet.net/article/213380/Fire-at-one-of-the-world-s-largest-battery-storage-facilities-forces-evacuations.aspx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8213593" y="1417413"/>
            <a:ext cx="3344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20 มกราคม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ราชบุรี, ประเทศไทย</a:t>
            </a:r>
            <a:endParaRPr sz="1600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11438960" y="1008281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11438960" y="4002829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165433" y="3999211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5881313" y="3581892"/>
            <a:ext cx="618210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https://www.bangkokbiznews.com/news/news-update/1217517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232391" y="1462394"/>
            <a:ext cx="3344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18 มกราคม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Baogang United Steel, China</a:t>
            </a:r>
            <a:endParaRPr/>
          </a:p>
        </p:txBody>
      </p:sp>
      <p:sp>
        <p:nvSpPr>
          <p:cNvPr id="233" name="Google Shape;233;p3"/>
          <p:cNvSpPr/>
          <p:nvPr/>
        </p:nvSpPr>
        <p:spPr>
          <a:xfrm>
            <a:off x="215033" y="2310831"/>
            <a:ext cx="539517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เกิดเหตุระเบิดและเพลิงไหม้ครั้งใหญ่ในโรงงานแผ่นเหล็กของบริษัท Baogang United Steel โดยเกิดการระเบิดของถังเก็บแรงดันสูงที่บรรจุน้ำอิ่มตัวและไอน้ำภายในโรงงาน แรงระเบิดส่งผลให้กลุ่มควันสีดำหนาปกคลุมไปทั่วบรรยากาศ 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ผู้เสียชีวิต 4 ราย และผู้ได้รับบาดเจ็บ 84 ราย</a:t>
            </a:r>
            <a:endParaRPr/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94648" y="1056396"/>
            <a:ext cx="2055305" cy="123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 descr="สรุปเหตุ ไฟไหม้โรงงานเคมีภัณฑ์ ผลิตยากันยุงทุกชนิด จ.ราชบุรี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85122" y="1064094"/>
            <a:ext cx="2055305" cy="123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07941" y="4052061"/>
            <a:ext cx="2042012" cy="122085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"/>
          <p:cNvSpPr/>
          <p:nvPr/>
        </p:nvSpPr>
        <p:spPr>
          <a:xfrm>
            <a:off x="215033" y="6566988"/>
            <a:ext cx="5493839" cy="23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https://www.bbc.com/news/articles/c89q5q8leeqo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215033" y="4458059"/>
            <a:ext cx="3344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26 มกราคม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Trikala, Greece</a:t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197675" y="5306496"/>
            <a:ext cx="539517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เกิดเหตุระเบิดและเพลิงไหม้รุนแรงที่ โรงงานบิสกิต Violanta โดยเหตุเกิดในช่วง กะกลางคืนขณะที่มีพนักงาน 13 คนอยู่ภายในโรงงาน คาดว่าสาเหตุเกิดการรั่วไหลของก๊าซบริเวณเตาอบ 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ผู้เสียชีวิต 5 ราย และผู้ได้รับบาดเจ็บ 12 ราย</a:t>
            </a:r>
            <a:endParaRPr/>
          </a:p>
        </p:txBody>
      </p:sp>
      <p:sp>
        <p:nvSpPr>
          <p:cNvPr id="240" name="Google Shape;240;p3"/>
          <p:cNvSpPr/>
          <p:nvPr/>
        </p:nvSpPr>
        <p:spPr>
          <a:xfrm>
            <a:off x="5887047" y="5333950"/>
            <a:ext cx="605342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เกิดเหตุระเบิดที่โรงกลั่นน้ำมันที่ใหญ่ที่สุดในประเทศตุรกี การระเบิดเกิดขึ้นบริเวณถังเก็บน้ำมันเบนซิน และทำให้เกิดไฟไหม้ขนาดใหญ่ครอบคลุมส่วนหนึ่งของโรงกลั่น เหตุการณ์นี้ได้รับความสนใจจากตลาดน้ำมัน เนื่องจากโรงกลั่นนี้มีบทบาทสำคัญต่อการจัดหาและส่งออกน้ำมันกลั่นในภูมิภาค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ไม่มีผู้ได้รับบาดเจ็บ หรือเสียชีวิต</a:t>
            </a:r>
            <a:endParaRPr/>
          </a:p>
        </p:txBody>
      </p:sp>
      <p:sp>
        <p:nvSpPr>
          <p:cNvPr id="241" name="Google Shape;241;p3"/>
          <p:cNvSpPr/>
          <p:nvPr/>
        </p:nvSpPr>
        <p:spPr>
          <a:xfrm>
            <a:off x="8213593" y="4405825"/>
            <a:ext cx="3344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29 มกราคม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Tüpraş Izmit, Turkey</a:t>
            </a:r>
            <a:endParaRPr/>
          </a:p>
        </p:txBody>
      </p:sp>
      <p:sp>
        <p:nvSpPr>
          <p:cNvPr id="242" name="Google Shape;242;p3"/>
          <p:cNvSpPr/>
          <p:nvPr/>
        </p:nvSpPr>
        <p:spPr>
          <a:xfrm>
            <a:off x="5881313" y="6570304"/>
            <a:ext cx="618210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https://www.hazardexonthenet.net/article/220275/Explosion-causes-fire-to-break-out-at-T%C3%BCrkiye-s-largest-oil-refinery.aspx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pic>
        <p:nvPicPr>
          <p:cNvPr id="243" name="Google Shape;243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86230" y="4061245"/>
            <a:ext cx="2054197" cy="1202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"/>
          <p:cNvSpPr txBox="1"/>
          <p:nvPr/>
        </p:nvSpPr>
        <p:spPr>
          <a:xfrm>
            <a:off x="314583" y="204405"/>
            <a:ext cx="10436276" cy="576064"/>
          </a:xfrm>
          <a:prstGeom prst="rect">
            <a:avLst/>
          </a:prstGeom>
          <a:gradFill>
            <a:gsLst>
              <a:gs pos="0">
                <a:srgbClr val="F5F7FC"/>
              </a:gs>
              <a:gs pos="41000">
                <a:srgbClr val="00B0F0"/>
              </a:gs>
              <a:gs pos="55000">
                <a:srgbClr val="247FF1"/>
              </a:gs>
              <a:gs pos="74000">
                <a:srgbClr val="0E72E0"/>
              </a:gs>
              <a:gs pos="100000">
                <a:srgbClr val="1126BF"/>
              </a:gs>
            </a:gsLst>
            <a:lin ang="10800000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dia New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ordia New"/>
                <a:ea typeface="Cordia New"/>
                <a:cs typeface="Cordia New"/>
                <a:sym typeface="Cordia New"/>
              </a:rPr>
              <a:t>Global Major Accident Events 2026 </a:t>
            </a:r>
            <a:endParaRPr sz="3200" b="1" i="0" u="none" strike="noStrike" cap="none">
              <a:solidFill>
                <a:srgbClr val="FFFFFF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179512" y="116632"/>
            <a:ext cx="11876364" cy="792088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5432" y="204405"/>
            <a:ext cx="1147056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"/>
          <p:cNvSpPr/>
          <p:nvPr/>
        </p:nvSpPr>
        <p:spPr>
          <a:xfrm>
            <a:off x="5752731" y="3853799"/>
            <a:ext cx="6439270" cy="2995665"/>
          </a:xfrm>
          <a:prstGeom prst="rect">
            <a:avLst/>
          </a:prstGeom>
          <a:solidFill>
            <a:srgbClr val="FAFA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-3754" y="3842449"/>
            <a:ext cx="5741959" cy="3015551"/>
          </a:xfrm>
          <a:prstGeom prst="rect">
            <a:avLst/>
          </a:prstGeom>
          <a:solidFill>
            <a:srgbClr val="F7F4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5752733" y="911906"/>
            <a:ext cx="6439268" cy="3011709"/>
          </a:xfrm>
          <a:prstGeom prst="rect">
            <a:avLst/>
          </a:prstGeom>
          <a:solidFill>
            <a:srgbClr val="F7F4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-1" y="913516"/>
            <a:ext cx="5752731" cy="2995665"/>
          </a:xfrm>
          <a:prstGeom prst="rect">
            <a:avLst/>
          </a:prstGeom>
          <a:solidFill>
            <a:srgbClr val="FAFA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4"/>
          <p:cNvCxnSpPr/>
          <p:nvPr/>
        </p:nvCxnSpPr>
        <p:spPr>
          <a:xfrm>
            <a:off x="5125" y="3881055"/>
            <a:ext cx="12168000" cy="40020"/>
          </a:xfrm>
          <a:prstGeom prst="straightConnector1">
            <a:avLst/>
          </a:prstGeom>
          <a:noFill/>
          <a:ln w="28575" cap="rnd" cmpd="sng">
            <a:solidFill>
              <a:srgbClr val="385623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256" name="Google Shape;256;p4"/>
          <p:cNvCxnSpPr/>
          <p:nvPr/>
        </p:nvCxnSpPr>
        <p:spPr>
          <a:xfrm>
            <a:off x="5752730" y="926476"/>
            <a:ext cx="0" cy="5940000"/>
          </a:xfrm>
          <a:prstGeom prst="straightConnector1">
            <a:avLst/>
          </a:prstGeom>
          <a:noFill/>
          <a:ln w="28575" cap="rnd" cmpd="sng">
            <a:solidFill>
              <a:srgbClr val="385623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257" name="Google Shape;257;p4"/>
          <p:cNvSpPr/>
          <p:nvPr/>
        </p:nvSpPr>
        <p:spPr>
          <a:xfrm>
            <a:off x="165433" y="1006604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5887047" y="2345538"/>
            <a:ext cx="605342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เกิดเหตุเพลิงไหม้ที่โรงกลั่นน้ำมัน Baiji ในภาคเหนือของอิรัก เจ้าหน้าที่ท้องถิ่นระบุว่าไฟไหม้เริ่มจากการระเบิดของเครื่องอัดอากาศ (air compressor) ภายในโรงกลั่น ทำให้เพลิงลุกลามอย่างรวดเร็ว ทีมดับเพลิงสามารถควบคุมเพลิงได้ และการผลิตน้ำมันไม่ถูกหยุดชะงัก  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 i="0" u="none" strike="noStrike" cap="none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ผู้เสียชีวิต 1 ราย และผู้ได้รับบาดเจ็บ 13 ราย</a:t>
            </a:r>
            <a:endParaRPr sz="16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232391" y="3617215"/>
            <a:ext cx="5493839" cy="35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https://www.weirtondailytimes.com/news/local-news/2026/01/blast-at-smith-township-plant-injures-5/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8213593" y="1417413"/>
            <a:ext cx="3344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9 กุมภาพันธ์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Baiji oil facility, Iraq</a:t>
            </a: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11438960" y="1008281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11438960" y="4002829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165433" y="3999211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5881313" y="3581892"/>
            <a:ext cx="618210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https://www.hazardexonthenet.net/article/220422/Fire-at-oil-refinery-kills-one--injures-13-in-Iraq.aspx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232391" y="1462394"/>
            <a:ext cx="3344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29 มกราคม 2569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Langeloth Metallurgical Co, USA</a:t>
            </a: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215033" y="2310831"/>
            <a:ext cx="539517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เกิดเหตุระเบิดที่โรงงานแปรรูปโลหะใน Smith Township เหตุการณ์เกิดขึ้นเมื่อรถบรรทุกถังขนส่งแมกนีเซียมคลอไรด์เทสารลงในถังเก็บผิดประเภทที่มีไฮโดรเจนเปอร์ออกไซด์จัดเก็บอยู่ จึงทำให้เกิดการระเบิด มีการสั่งให้ประชาชนอพยพ 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ผู้ได้รับบาดเจ็บ 5 ราย</a:t>
            </a:r>
            <a:endParaRPr/>
          </a:p>
        </p:txBody>
      </p:sp>
      <p:sp>
        <p:nvSpPr>
          <p:cNvPr id="267" name="Google Shape;267;p4"/>
          <p:cNvSpPr/>
          <p:nvPr/>
        </p:nvSpPr>
        <p:spPr>
          <a:xfrm>
            <a:off x="215033" y="6566988"/>
            <a:ext cx="5493839" cy="23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https://www.hindustantimes.com/india-news/35-injured-10-critical-as-explosion-triggers-fire-in-faridabad-chemical-factory-101771251170918.html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215033" y="4458059"/>
            <a:ext cx="334491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16 กุมภาพ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ันธ์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2569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the Mujesar industrial area of Faridabad,India</a:t>
            </a:r>
            <a:endParaRPr sz="1600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197675" y="5306496"/>
            <a:ext cx="539517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เกิดเหตุระเบิดและเพลิงไหม้ครั้งใหญ่ที่โรงงานเคมีในพื้นที่อุตสาหกรรม Mujesar แรงระเบิดเกิดขึ้นเมื่อ ประกายไฟจากไฟฟ้าลัดวงจรตกลงไปโดนถังที่บรรจุสารเคมีและน้ำมันไวไฟ ซึ่งทำให้เกิดการระเบิดหลายครั้งตามลำดับและเพลิงลุกลามอย่างรวดเร็ว 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ผู้ได้รับบาดเจ็บ 42 ราย</a:t>
            </a:r>
            <a:endParaRPr/>
          </a:p>
        </p:txBody>
      </p:sp>
      <p:sp>
        <p:nvSpPr>
          <p:cNvPr id="270" name="Google Shape;270;p4"/>
          <p:cNvSpPr/>
          <p:nvPr/>
        </p:nvSpPr>
        <p:spPr>
          <a:xfrm>
            <a:off x="5887047" y="5333950"/>
            <a:ext cx="605342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เกิดเหตุระเบิดและเพลิงไหม้ที่โรงงานเคมี Rolfes Chemical Company เหตุเกิดจากการระเบิดแล้วลุกลามเป็นเพลิงไหม้รุนแรงของสารเคมีไวไฟ ทำให้เกิดเสียงระเบิดดังขึ้นหลายครั้ง มีการสั่งอพยพคนงานและปิดถนนโดยรอบเพื่อความปลอดภัย สาเหตุ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การเกิดอุบัติเหตุอยู่ระหว่างการสอบสวน</a:t>
            </a:r>
            <a:endParaRPr sz="16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ไม่มีผู้ได้รับบาดเจ็บ หรือเสียชีวิต</a:t>
            </a:r>
            <a:endParaRPr/>
          </a:p>
        </p:txBody>
      </p:sp>
      <p:sp>
        <p:nvSpPr>
          <p:cNvPr id="271" name="Google Shape;271;p4"/>
          <p:cNvSpPr/>
          <p:nvPr/>
        </p:nvSpPr>
        <p:spPr>
          <a:xfrm>
            <a:off x="8213593" y="4405825"/>
            <a:ext cx="3344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19 </a:t>
            </a:r>
            <a: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กุมภาพันธ์ 2569 </a:t>
            </a:r>
            <a:br>
              <a:rPr lang="en-US" sz="160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Rolfes Chemical Company, South Africa</a:t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5881313" y="6570304"/>
            <a:ext cx="61821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https://iol.co.za/news/south-africa/2026-02-19-in-pictures-germiston-chemical-factory-explosion-forces-mass-evacuation-one-injured/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pic>
        <p:nvPicPr>
          <p:cNvPr id="273" name="Google Shape;273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07941" y="1064094"/>
            <a:ext cx="2042012" cy="123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98416" y="1059865"/>
            <a:ext cx="2042011" cy="123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93417" y="4053280"/>
            <a:ext cx="2056536" cy="12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71941" y="4038228"/>
            <a:ext cx="2042011" cy="1238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/>
        </p:nvSpPr>
        <p:spPr>
          <a:xfrm>
            <a:off x="314583" y="204405"/>
            <a:ext cx="10436276" cy="576064"/>
          </a:xfrm>
          <a:prstGeom prst="rect">
            <a:avLst/>
          </a:prstGeom>
          <a:gradFill>
            <a:gsLst>
              <a:gs pos="0">
                <a:srgbClr val="F5F7FC"/>
              </a:gs>
              <a:gs pos="41000">
                <a:srgbClr val="00B0F0"/>
              </a:gs>
              <a:gs pos="55000">
                <a:srgbClr val="247FF1"/>
              </a:gs>
              <a:gs pos="74000">
                <a:srgbClr val="0E72E0"/>
              </a:gs>
              <a:gs pos="100000">
                <a:srgbClr val="1126BF"/>
              </a:gs>
            </a:gsLst>
            <a:lin ang="10800000" scaled="0"/>
          </a:gra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dia New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ordia New"/>
                <a:ea typeface="Cordia New"/>
                <a:cs typeface="Cordia New"/>
                <a:sym typeface="Cordia New"/>
              </a:rPr>
              <a:t>Global Major Accident Events 2026 </a:t>
            </a:r>
            <a:endParaRPr sz="3200" b="1" i="0" u="none" strike="noStrike" cap="none">
              <a:solidFill>
                <a:srgbClr val="FFFFFF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179512" y="116632"/>
            <a:ext cx="11876364" cy="792088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5432" y="204405"/>
            <a:ext cx="1147056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752731" y="3852387"/>
            <a:ext cx="6439200" cy="2995800"/>
          </a:xfrm>
          <a:prstGeom prst="rect">
            <a:avLst/>
          </a:prstGeom>
          <a:solidFill>
            <a:srgbClr val="FAFA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-3754" y="3842449"/>
            <a:ext cx="5741959" cy="3015551"/>
          </a:xfrm>
          <a:prstGeom prst="rect">
            <a:avLst/>
          </a:prstGeom>
          <a:solidFill>
            <a:srgbClr val="F7F4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5813308" y="948118"/>
            <a:ext cx="6439200" cy="3011700"/>
          </a:xfrm>
          <a:prstGeom prst="rect">
            <a:avLst/>
          </a:prstGeom>
          <a:solidFill>
            <a:srgbClr val="F7F4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-1" y="913516"/>
            <a:ext cx="5752731" cy="2995665"/>
          </a:xfrm>
          <a:prstGeom prst="rect">
            <a:avLst/>
          </a:prstGeom>
          <a:solidFill>
            <a:srgbClr val="FAFA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5"/>
          <p:cNvCxnSpPr/>
          <p:nvPr/>
        </p:nvCxnSpPr>
        <p:spPr>
          <a:xfrm>
            <a:off x="5125" y="3881055"/>
            <a:ext cx="12168000" cy="40020"/>
          </a:xfrm>
          <a:prstGeom prst="straightConnector1">
            <a:avLst/>
          </a:prstGeom>
          <a:noFill/>
          <a:ln w="28575" cap="rnd" cmpd="sng">
            <a:solidFill>
              <a:srgbClr val="385623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289" name="Google Shape;289;p5"/>
          <p:cNvCxnSpPr/>
          <p:nvPr/>
        </p:nvCxnSpPr>
        <p:spPr>
          <a:xfrm>
            <a:off x="5752730" y="926476"/>
            <a:ext cx="0" cy="5940000"/>
          </a:xfrm>
          <a:prstGeom prst="straightConnector1">
            <a:avLst/>
          </a:prstGeom>
          <a:noFill/>
          <a:ln w="28575" cap="rnd" cmpd="sng">
            <a:solidFill>
              <a:srgbClr val="385623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290" name="Google Shape;290;p5"/>
          <p:cNvSpPr/>
          <p:nvPr/>
        </p:nvSpPr>
        <p:spPr>
          <a:xfrm>
            <a:off x="165433" y="1006604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232391" y="3617215"/>
            <a:ext cx="5493839" cy="35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 </a:t>
            </a:r>
            <a:r>
              <a:rPr lang="en-US" sz="900" i="1" u="sng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https://vietnamnews.vn/society/1766183/refining-tank-explosion-at-lao-cai-s-yellow-phosphorus-plant-leaves-one-dead.html</a:t>
            </a: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11438960" y="1008281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11438960" y="4002829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12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165433" y="3999211"/>
            <a:ext cx="429768" cy="365760"/>
          </a:xfrm>
          <a:prstGeom prst="roundRect">
            <a:avLst>
              <a:gd name="adj" fmla="val 16667"/>
            </a:avLst>
          </a:prstGeom>
          <a:solidFill>
            <a:srgbClr val="8F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sz="13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232391" y="1462394"/>
            <a:ext cx="334491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 dirty="0" err="1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i="0" u="none" strike="noStrike" cap="none" dirty="0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 </a:t>
            </a:r>
            <a:r>
              <a:rPr lang="en-US" sz="1600" i="0" u="none" strike="noStrike" cap="none" dirty="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23 </a:t>
            </a:r>
            <a:r>
              <a:rPr lang="en-US" sz="1600" i="0" u="none" strike="noStrike" cap="none" dirty="0" err="1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กุมภาพันธ์</a:t>
            </a:r>
            <a:r>
              <a:rPr lang="en-US" sz="1600" i="0" u="none" strike="noStrike" cap="none" dirty="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 </a:t>
            </a:r>
            <a:r>
              <a:rPr lang="en-US" sz="1600" dirty="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br>
              <a:rPr lang="en-US" sz="1600" dirty="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</a:br>
            <a:r>
              <a:rPr lang="en-US" sz="1600" b="1" u="sng" dirty="0" err="1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i="0" u="none" strike="noStrike" cap="none" dirty="0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Vietnam Yellow Phosphorus Co., Ltd., Vietnam</a:t>
            </a:r>
            <a:endParaRPr dirty="0"/>
          </a:p>
        </p:txBody>
      </p:sp>
      <p:sp>
        <p:nvSpPr>
          <p:cNvPr id="296" name="Google Shape;296;p5"/>
          <p:cNvSpPr/>
          <p:nvPr/>
        </p:nvSpPr>
        <p:spPr>
          <a:xfrm>
            <a:off x="215033" y="2310831"/>
            <a:ext cx="539517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 dirty="0" err="1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i="0" u="none" strike="noStrike" cap="none" dirty="0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เกิดการระเบิดขึ้นที่โรงงานผลิตฟอสฟอรัสเหลือง</a:t>
            </a:r>
            <a:r>
              <a:rPr lang="en-US" sz="1600" dirty="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โดยเหตุระเบิดเกิดขึ้นที่บริเวณถังกลั่น</a:t>
            </a:r>
            <a:r>
              <a:rPr lang="en-US" sz="1600" dirty="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 (Refining tank) </a:t>
            </a:r>
            <a:r>
              <a:rPr lang="en-US" sz="1600" dirty="0" err="1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สาเหตุเบื้องต้นมาจากเกิดรอยแตกของถังกลั่นสองชั้น</a:t>
            </a:r>
            <a:r>
              <a:rPr lang="en-US" sz="1600" dirty="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ทำให้น้ำในถังระเหยหมด</a:t>
            </a:r>
            <a:r>
              <a:rPr lang="en-US" sz="1600" dirty="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ส่งผลให้ฟอสฟอรัสติดไฟและเกิดการระเบิด</a:t>
            </a:r>
            <a:r>
              <a:rPr lang="en-US" sz="1600" dirty="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แรงระเบิดทำให้หลังคาโรงเก็บสินค้าได้พังถล่มลง</a:t>
            </a:r>
            <a:r>
              <a:rPr lang="en-US" sz="1600" dirty="0">
                <a:solidFill>
                  <a:srgbClr val="0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สาเหตุการเกิดอุบัติเหตุอยู่ระหว่างการสอบสวน</a:t>
            </a:r>
            <a:endParaRPr sz="1600" dirty="0">
              <a:solidFill>
                <a:srgbClr val="000000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 dirty="0" err="1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i="0" u="none" strike="noStrike" cap="none" dirty="0">
                <a:solidFill>
                  <a:srgbClr val="8F1313"/>
                </a:solidFill>
                <a:latin typeface="Browallia New"/>
                <a:ea typeface="Browallia New"/>
                <a:cs typeface="Browallia New"/>
                <a:sym typeface="Browallia New"/>
              </a:rPr>
              <a:t>: </a:t>
            </a:r>
            <a:r>
              <a:rPr lang="en-US" sz="1600" dirty="0" err="1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ผู้เสียชีวิต</a:t>
            </a:r>
            <a:r>
              <a:rPr lang="en-US" sz="1600" dirty="0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 1 </a:t>
            </a:r>
            <a:r>
              <a:rPr lang="en-US" sz="1600" dirty="0" err="1">
                <a:solidFill>
                  <a:srgbClr val="0C0C0C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ราย</a:t>
            </a:r>
            <a:endParaRPr dirty="0"/>
          </a:p>
        </p:txBody>
      </p:sp>
      <p:pic>
        <p:nvPicPr>
          <p:cNvPr id="297" name="Google Shape;29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0709" y="1049778"/>
            <a:ext cx="2042013" cy="12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"/>
          <p:cNvSpPr txBox="1"/>
          <p:nvPr/>
        </p:nvSpPr>
        <p:spPr>
          <a:xfrm>
            <a:off x="5846357" y="2123281"/>
            <a:ext cx="6468457" cy="152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b="1" u="sng" dirty="0" err="1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2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เกิดเหตุระเบิดรุนแรงที่โรงงานเคมี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Metropolitan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Eximchem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ในเขตอุตสาหกรรม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Jhagadia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ขณะที่พนักงานกำลังดำเนินกระบวนการที่เกี่ยวข้องกับ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Methanol</a:t>
            </a:r>
            <a:r>
              <a:rPr lang="en-US" sz="12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ซึ่งเป็นสารไวไฟสูง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ทำให้เกิดเพลิงไหม้ขนาดใหญ่และกลุ่มควันดำหนาทึบ</a:t>
            </a:r>
            <a:r>
              <a:rPr lang="th-TH" sz="1600" kern="100" dirty="0">
                <a:effectLst/>
                <a:latin typeface="Browallia New" panose="020B0604020202020204" pitchFamily="34" charset="-34"/>
                <a:ea typeface="Aptos" panose="020B0004020202020204" pitchFamily="34" charset="0"/>
                <a:cs typeface="Browallia New" panose="020B0604020202020204" pitchFamily="34" charset="-34"/>
              </a:rPr>
              <a:t>สาเหตุเบื้องต้นคาดว่าเกิดจากปฏิกิริยาเคมีที่ผิดพลาดระหว่างกระบวนการผลิต </a:t>
            </a:r>
            <a:r>
              <a:rPr lang="en-US" sz="1600" kern="100" dirty="0">
                <a:effectLst/>
                <a:latin typeface="Browallia New" panose="020B0604020202020204" pitchFamily="34" charset="-34"/>
                <a:ea typeface="Aptos" panose="020B0004020202020204" pitchFamily="34" charset="0"/>
                <a:cs typeface="Browallia New" panose="020B0604020202020204" pitchFamily="34" charset="-34"/>
              </a:rPr>
              <a:t>Methanol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u="sng" dirty="0" err="1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2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ผู้ได้รับบาดเจ็บ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15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ราย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(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มีอาการสาหัส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5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รายจากบาดแผลไฟไหม้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)</a:t>
            </a:r>
            <a:endParaRPr sz="1700" b="1" dirty="0">
              <a:solidFill>
                <a:srgbClr val="002D62"/>
              </a:solidFill>
              <a:highlight>
                <a:srgbClr val="FFFFFF"/>
              </a:highlight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5918164" y="1356985"/>
            <a:ext cx="2133300" cy="8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u="sng" dirty="0" err="1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u="sng" dirty="0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เมษายน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u="sng" dirty="0" err="1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Gujarat, India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300" name="Google Shape;300;p5"/>
          <p:cNvSpPr txBox="1"/>
          <p:nvPr/>
        </p:nvSpPr>
        <p:spPr>
          <a:xfrm>
            <a:off x="5799788" y="3439050"/>
            <a:ext cx="6212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อ้างอิงจาก</a:t>
            </a:r>
            <a:r>
              <a:rPr lang="en-US" sz="900" u="sng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https://chemicals.economictimes.indiatimes.com/news/industry-and-market/major-explosion-at-bharuch-chemical-plant-leaves-15-workers-injured-prompts-safety-review/130485713?utm_source=latest_news&amp;utm_medium=searchListing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 txBox="1"/>
          <p:nvPr/>
        </p:nvSpPr>
        <p:spPr>
          <a:xfrm>
            <a:off x="5124" y="4906650"/>
            <a:ext cx="5493900" cy="17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600" b="1" u="sng" dirty="0" err="1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เกิดเหตุระเบิดครั้งใหญ่ที่โรงงานปิโตรเคมี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Nizhnekamskneftekhim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(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ภายใต้เครือ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Sibur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) ซึ่งเป็นหนึ่งในผู้ผลิตยางสังเคราะห์และพลาสติกที่ใหญ่ที่สุดของรัสเซีย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แรงระเบิดส่งผลกระทบเป็นวงกว้างต่อพื้นที่การผลิต</a:t>
            </a:r>
            <a:r>
              <a:rPr lang="th-TH" sz="1600" dirty="0">
                <a:solidFill>
                  <a:schemeClr val="tx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</a:t>
            </a:r>
            <a:r>
              <a:rPr lang="th-TH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อยู่ระหว่างการสอบสวนเชิงลึกโดยทีมผู้เชี่ยวชาญ (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Investigation Triggered)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u="sng" dirty="0" err="1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ผู้เสียชีวิต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3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ราย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และผู้ได้รับบาดเจ็บ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72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ราย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302" name="Google Shape;302;p5"/>
          <p:cNvSpPr txBox="1"/>
          <p:nvPr/>
        </p:nvSpPr>
        <p:spPr>
          <a:xfrm>
            <a:off x="196550" y="6534900"/>
            <a:ext cx="5432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</a:t>
            </a:r>
            <a:r>
              <a:rPr lang="en-US" sz="900" i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900" i="1" u="sng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https://www.joiff.com/russia-deadly-blast-at-tatarstan-petrochemical-plant-triggers-investigation</a:t>
            </a:r>
            <a:r>
              <a:rPr lang="en-US" sz="900" u="sng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sz="9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-3750" y="4273575"/>
            <a:ext cx="2567700" cy="8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u="sng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วันที่เกิดเหตุ: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9 เมษายน 2569</a:t>
            </a:r>
            <a:endParaRPr sz="16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u="sng">
                <a:solidFill>
                  <a:srgbClr val="98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Republic of Tatarstan, Russia</a:t>
            </a:r>
            <a:endParaRPr sz="16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304" name="Google Shape;304;p5"/>
          <p:cNvSpPr txBox="1"/>
          <p:nvPr/>
        </p:nvSpPr>
        <p:spPr>
          <a:xfrm>
            <a:off x="5726225" y="4906650"/>
            <a:ext cx="6329700" cy="17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600" b="1" u="sng" dirty="0" err="1">
                <a:solidFill>
                  <a:srgbClr val="C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เหตุการณ์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เกิดเหตุระเบิดรุนแรงที่หน่วยดักจับฝุ่น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(Dust-collection unit)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ของโรงถลุงสังกะสี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Kazzinc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แรงระเบิดทำให้ตัวอาคารบางส่วนพังถล่มและเกิดเพลิงไหม้ครอบคลุมพื้นที่ 120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ตารางเมตร</a:t>
            </a:r>
            <a:r>
              <a:rPr lang="th-TH" sz="1600" dirty="0">
                <a:solidFill>
                  <a:schemeClr val="tx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สาเหตุ</a:t>
            </a:r>
            <a:r>
              <a:rPr lang="th-TH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ระเบิดเกิดขึ้นระหว่าง</a:t>
            </a:r>
            <a:r>
              <a:rPr lang="th-TH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การทำ</a:t>
            </a:r>
            <a:r>
              <a:rPr lang="th-TH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ความสะอาดระบบดูดควัน (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Cleaning Operations) </a:t>
            </a:r>
            <a:r>
              <a:rPr lang="th-TH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ซึ่งเป็นช่วงการซ่อมบำรุงที่อันตรายเนื่องจากการสะสมของฝุ่นโลหะไวไฟ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u="sng" dirty="0" err="1">
                <a:solidFill>
                  <a:srgbClr val="C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ผลกระทบ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ผู้เสียชีวิต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2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ราย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และผู้ได้รับบาดเจ็บ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5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ราย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305" name="Google Shape;305;p5"/>
          <p:cNvSpPr txBox="1"/>
          <p:nvPr/>
        </p:nvSpPr>
        <p:spPr>
          <a:xfrm>
            <a:off x="5737200" y="4221600"/>
            <a:ext cx="2275500" cy="8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u="sng" dirty="0" err="1">
                <a:solidFill>
                  <a:srgbClr val="C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วันที่เกิดเหตุ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5 </a:t>
            </a:r>
            <a:r>
              <a:rPr lang="en-US" sz="1600" dirty="0" err="1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พฤษภาคม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2569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 u="sng" dirty="0" err="1">
                <a:solidFill>
                  <a:srgbClr val="C00000"/>
                </a:solidFill>
                <a:latin typeface="Browallia New"/>
                <a:ea typeface="Browallia New"/>
                <a:cs typeface="Browallia New"/>
                <a:sym typeface="Browallia New"/>
              </a:rPr>
              <a:t>สถานที่</a:t>
            </a:r>
            <a:r>
              <a:rPr lang="en-US" sz="1600" b="1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:</a:t>
            </a:r>
            <a:r>
              <a:rPr lang="en-US" sz="1600" dirty="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 Eastern Kazakhstan </a:t>
            </a:r>
            <a:endParaRPr sz="1600" dirty="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sp>
        <p:nvSpPr>
          <p:cNvPr id="306" name="Google Shape;306;p5"/>
          <p:cNvSpPr txBox="1"/>
          <p:nvPr/>
        </p:nvSpPr>
        <p:spPr>
          <a:xfrm>
            <a:off x="5767250" y="6534900"/>
            <a:ext cx="6531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</a:rPr>
              <a:t>อ้างอิง </a:t>
            </a:r>
            <a:r>
              <a:rPr lang="en-US" sz="900" u="sng">
                <a:solidFill>
                  <a:schemeClr val="dk1"/>
                </a:solidFill>
                <a:latin typeface="Browallia New"/>
                <a:ea typeface="Browallia New"/>
                <a:cs typeface="Browallia New"/>
                <a:sym typeface="Browallia New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https://discoveryalert.com.au/kazzinc-explosion-kazakhstan-zinc-smelter-safety-2026/</a:t>
            </a:r>
            <a:endParaRPr sz="900">
              <a:solidFill>
                <a:schemeClr val="dk1"/>
              </a:solidFill>
              <a:latin typeface="Browallia New"/>
              <a:ea typeface="Browallia New"/>
              <a:cs typeface="Browallia New"/>
              <a:sym typeface="Browallia New"/>
            </a:endParaRPr>
          </a:p>
        </p:txBody>
      </p:sp>
      <p:pic>
        <p:nvPicPr>
          <p:cNvPr id="307" name="Google Shape;307;p5" title="Screenshot 2026-05-07 15123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84750" y="3999200"/>
            <a:ext cx="1973009" cy="98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5" title="Screenshot 2026-05-07 15152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45063" y="4042229"/>
            <a:ext cx="2133300" cy="970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" title="Screenshot 2026-05-07 152002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8985225" y="938596"/>
            <a:ext cx="1705026" cy="1324957"/>
          </a:xfrm>
          <a:prstGeom prst="rect">
            <a:avLst/>
          </a:prstGeom>
          <a:solidFill>
            <a:srgbClr val="F7F4E5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6" descr="PTT-Group-Logo-cop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0614" y="187192"/>
            <a:ext cx="1164442" cy="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7" name="Google Shape;317;p6"/>
          <p:cNvGraphicFramePr/>
          <p:nvPr>
            <p:extLst>
              <p:ext uri="{D42A27DB-BD31-4B8C-83A1-F6EECF244321}">
                <p14:modId xmlns:p14="http://schemas.microsoft.com/office/powerpoint/2010/main" val="4190997964"/>
              </p:ext>
            </p:extLst>
          </p:nvPr>
        </p:nvGraphicFramePr>
        <p:xfrm>
          <a:off x="1072055" y="922066"/>
          <a:ext cx="9450205" cy="5619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8" name="Google Shape;318;p6"/>
          <p:cNvSpPr/>
          <p:nvPr/>
        </p:nvSpPr>
        <p:spPr>
          <a:xfrm>
            <a:off x="-1571129" y="160317"/>
            <a:ext cx="1229780" cy="561496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Pim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 txBox="1"/>
          <p:nvPr/>
        </p:nvSpPr>
        <p:spPr>
          <a:xfrm>
            <a:off x="263352" y="204405"/>
            <a:ext cx="10585175" cy="576064"/>
          </a:xfrm>
          <a:prstGeom prst="rect">
            <a:avLst/>
          </a:prstGeom>
          <a:solidFill>
            <a:srgbClr val="0180B7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Browallia New"/>
                <a:ea typeface="Browallia New"/>
                <a:cs typeface="Browallia New"/>
                <a:sym typeface="Browallia New"/>
              </a:rPr>
              <a:t>Global Major Accident Events 2026 ( 1 Jan – 23 Feb)</a:t>
            </a:r>
            <a:endParaRPr/>
          </a:p>
        </p:txBody>
      </p:sp>
      <p:sp>
        <p:nvSpPr>
          <p:cNvPr id="320" name="Google Shape;320;p6"/>
          <p:cNvSpPr txBox="1">
            <a:spLocks noGrp="1"/>
          </p:cNvSpPr>
          <p:nvPr>
            <p:ph type="sldNum" idx="12"/>
          </p:nvPr>
        </p:nvSpPr>
        <p:spPr>
          <a:xfrm>
            <a:off x="11817350" y="6542613"/>
            <a:ext cx="374650" cy="25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1455</Words>
  <Application>Microsoft Office PowerPoint</Application>
  <PresentationFormat>Widescreen</PresentationFormat>
  <Paragraphs>204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Sarabun</vt:lpstr>
      <vt:lpstr>Browallia New</vt:lpstr>
      <vt:lpstr>Cordia New</vt:lpstr>
      <vt:lpstr>Arial</vt:lpstr>
      <vt:lpstr>Calibri</vt:lpstr>
      <vt:lpstr>Tahoma</vt:lpstr>
      <vt:lpstr>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Chulalak Thongthep</dc:creator>
  <cp:lastModifiedBy>Kongphipop Chotikarn</cp:lastModifiedBy>
  <cp:revision>1</cp:revision>
  <dcterms:created xsi:type="dcterms:W3CDTF">2025-01-08T01:23:43Z</dcterms:created>
  <dcterms:modified xsi:type="dcterms:W3CDTF">2026-05-07T10:10:25Z</dcterms:modified>
</cp:coreProperties>
</file>